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14706304-534d-dc0c-1d18-61a00921c420}">
          <p14:sldIdLst>
            <p14:sldId id="256"/>
            <p14:sldId id="257"/>
            <p14:sldId id="258"/>
          </p14:sldIdLst>
        </p14:section>
        <p14:section name="Process and decisions" id="{e56c8371-ddda-c565-1a37-3d3de5cdd138}">
          <p14:sldIdLst>
            <p14:sldId id="259"/>
            <p14:sldId id="260"/>
          </p14:sldIdLst>
        </p14:section>
        <p14:section name="Inputs and models" id="{e3b27193-da64-bc52-8b7b-374cdac0b5a1}">
          <p14:sldIdLst>
            <p14:sldId id="261"/>
            <p14:sldId id="262"/>
          </p14:sldIdLst>
        </p14:section>
        <p14:section name="Control and safety" id="{eb7463de-d3f0-d93f-56cb-9e662d3f0e5a}">
          <p14:sldIdLst>
            <p14:sldId id="263"/>
            <p14:sldId id="264"/>
          </p14:sldIdLst>
        </p14:section>
        <p14:section name="Evidence" id="{64eb7b37-0274-a1d1-9af2-87da1a49cc7e}">
          <p14:sldIdLst>
            <p14:sldId id="265"/>
            <p14:sldId id="266"/>
            <p14:sldId id="267"/>
          </p14:sldIdLst>
        </p14:section>
        <p14:section name="Build" id="{ee316516-7f71-52cb-ada9-82c257723f6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breakdown for the Problem 2 submission: process flow, decisions, model usage, and the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arrows are the main path. Dashed purple arrows are the low-risk and benign exits. Red dashed arrows go to the human review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agents sit outside the scan graph: the tool-call guard, which checks actions, and the RM Copilot, the victim agent used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Decoys that behave normally only clear wording that the rules alone flagged. If the LLM classifier also called a span an injection, the span is cut anyway, because a decoy that refuses an attack proves nothing about the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strong signal makes the decoy verdict malicious. Two medium signals do too. One medium signal is suspicious. Decoy output is parsed as data and never executed.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file that cannot be parsed never crashes the pipeline. It is marked unparsed and held for review on high-risk destinations.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shared Gemma pool on OpenRouter is often rate-limited upstream. That is why every role has a fallback from another family.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follows the CaMeL idea: data from untrusted content must not control what the agent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D58"/>
                </a:solidFill>
              </a:rPr>
              <a:t>Tripwire · ET AI Hackathon 2026 · Problem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984"/>
                </a:solidFill>
              </a:rPr>
              <a:t>Tripwire · ET AI Hackathon 2026 · Problem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Tripwire architecture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How a prompt-injection firewall decides what an AI agent may read and what it may do. ET AI Hackathon, Agentic Edition, Problem 2. Team shivam-johri. 10 October 2026.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Content reaches the agent only after the scan graph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D58"/>
                </a:solidFill>
              </a:rPr>
              <a:t>Seven agents inspect content before the protected agent sees it. Every action the agent then takes passes the tool-call guard.</a:t>
            </a:r>
            <a:endParaRPr lang="en-US" sz="1700" dirty="0"/>
          </a:p>
        </p:txBody>
      </p:sp>
      <p:pic>
        <p:nvPicPr>
          <p:cNvPr id="4" name="Image 0" descr="Tripwire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2888" y="1737360"/>
            <a:ext cx="7132320" cy="456030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scan graph has seven agents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D58"/>
                </a:solidFill>
              </a:rPr>
              <a:t>LangGraph runs them as one StateGraph. Policy code picks every route, and LLMs do the judging inside each node.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834640"/>
                <a:gridCol w="31089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decides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LLM role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Deterministic tools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1 Triage planner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What the content really says, and how deep to inspect it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Vision model OCRs images at 1x and 0.5x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Parsers for 10 formats, hidden-layer detector, decoder (3 levels), risk band per destination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2 Sentinel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Injection risk per segment, attack types, reason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Classifier with marked-up input and strict JSON, told the channel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19 regex rules, similarity to 9 approved attack-memory entries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3 Session agent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Whether a conversation builds a multi-step jailbreak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Decayed risk over the last 10 turns (decay 0.8)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4 Detonator x2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What the content makes an agent 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Two decoy agents from different model families, with canaries and 7 fake tools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Signal checks: tool fired, canary leaked, exfil link, memory write, token missing, persona change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5 Behaviour judge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Whether a decoy did anything beyond its task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Names a drift category and quotes evidence, which code checks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Combines the two decoy verdicts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6 Neutralizer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Which exact spans to cut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Extracts the instruction spans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Cut, re-scan (2 passes max), mark-up wrapper, taint registry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7 Adjudicator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ALLOW, SANITIZE, QUARANTINE or ESCALATE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Policy table, fail-open or fail-closed per destination, one-sentence reason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risk score picks one of three routes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D58"/>
                </a:solidFill>
              </a:rPr>
              <a:t>The gray band is wider for agents with tools (0.15 to 0.85) than for read-only destinations (0.35 to 0.85).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Route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Next step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Low risk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Risk below the gray band, rules and LLM agree, no session alert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Straight to the adjudicator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Confirmed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Risk 0.85 or more, with a critical rule or rule plus LLM at 0.8 or more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Straight to the neutralizer, no detonation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Gray zone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Everything else, including any rule and LLM disagreement over 0.5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Two decoys, then the behaviour judge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The agent receives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ALLOW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Low risk and nothing hidden, or decoys clean on a flag from rules alone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The original content, marked as data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SANITIZE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Attack spans isolated and the re-scan is clean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Sanitized content, a system note and a taint id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QUARANTINE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Not isolatable, still dirty after 2 passes, or nothing legitimate left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A placeholder notice only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ESCALATE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Suspicious on a high-risk destination, or no LLM available there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Nothing until a person decides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detonator decides by behaviour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D58"/>
                </a:solidFill>
              </a:rPr>
              <a:t>Gray-zone content runs inside two decoy copies of the bank assistant. What the decoys do decides the verdict.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935"/>
                </a:solidFill>
              </a:rPr>
              <a:t>Each run gets new random canaries: an API key, a PAN, an OTP and a check-in token.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935"/>
                </a:solidFill>
              </a:rPr>
              <a:t>The decoy holds 7 fake tools: send_email, http_get, transfer_funds, read_file, update_memory, run_shell, post_public.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935"/>
                </a:solidFill>
              </a:rPr>
              <a:t>Two model families run in parallel, so one model's blind spot does not hide an attack.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935"/>
                </a:solidFill>
              </a:rPr>
              <a:t>A send, fetch or read counts only when its target came from the content.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935"/>
                </a:solidFill>
              </a:rPr>
              <a:t>The judge must quote verbatim evidence of drift, and code checks that the quote exists.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Maps to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Fake tool fired with a content target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Strong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Canary leaked (plain, base64, URL or reversed)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Strong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T3, T5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Exfil link with a canary or content host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Strong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Memory write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Strong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Check-in token missing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Persona change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Task drift, judged with quoted evidence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T1, T6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Triage reveals hidden text before detection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D58"/>
                </a:solidFill>
              </a:rPr>
              <a:t>Every later agent sees the text the AI would actually read. Hidden content is always stripped on sanitize.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Carrier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Parsed with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Hidden layers revealed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Email (.eml)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stdlib email; HTML parts go to the HTML parser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Everything the HTML parser finds; attachments recurse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HTML or web page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BeautifulSoup; URL fetch runs on the server and refuses private hosts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display:none, visibility:hidden, opacity:0, tiny or white text, off-screen, comments, alt and title text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PDF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PyMuPDF spans with size, colour and position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White text, text under 2pt, text outside the page, annotations, metadata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Word (.docx)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Raw XML through defusedxml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Hidden runs (w:vanish), white or tiny text, comments, headers and footers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Markdown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Regex plus the HTML parser for inline HTML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Comments, reference-link titles, image-link exfil templates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Image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Vision LLM OCR at full and half scale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Low-contrast micro-text, text visible only when downscaled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JSON, code, .ics, chat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Every string leaf; comments and strings; event fields; turns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Unicode tag characters, zero-width characters, bidi overrides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D58"/>
                </a:solidFill>
              </a:rPr>
              <a:t>The decoder runs on every segment, up to 3 levels: base64, hex, URL encoding, ROT13, Unicode tags, zero-width stripping, and a homoglyph map.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Free OpenRouter models, each with fallbacks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D58"/>
                </a:solidFill>
              </a:rPr>
              <a:t>No model is fine-tuned and no paid API is used. Model lists come from environment variables.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377440"/>
                <a:gridCol w="32918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Primary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Fallbacks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Sentinel, neutralizer, judge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nemotron-3-super-120b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nemotron-3.5-lightning, gemma-4-31b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Most reliable strict JSON among free models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Decoy 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lfm-2.5-2.6b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apodex-1.1-mini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Small and compliant, so it falls for injections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Decoy B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gemma-4-26b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laguna-xs-2.1, nemotron-3.5-lightning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A second model family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Vision OCR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gemma-4-31b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gemma-4-26b, dots-3-note-preview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Image input with JSON output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RM Copilot (demo)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gemma-4-26b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nemotron-3.5-lightning, gemma-4-31b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A realistic tool-using assistant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34340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935"/>
                </a:solidFill>
              </a:rPr>
              <a:t>Each call: temperature 0, 25 s timeout, 2 retries with jitter, then the next model.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935"/>
                </a:solidFill>
              </a:rPr>
              <a:t>A model's circuit breaker opens for 60 s after 5 failures in a row.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935"/>
                </a:solidFill>
              </a:rPr>
              <a:t>Reasoning is switched off where a model allows it. Nemotron otherwise spends its whole token budget thinking.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935"/>
                </a:solidFill>
              </a:rPr>
              <a:t>Calls are cached in SQLite and paced to 18 per minute, under the free tier's limit of about 20.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Untrusted content can never drive an action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D58"/>
                </a:solidFill>
              </a:rPr>
              <a:t>The protected agent calls POST /v1/guard/tool-call before every action. The guard answers allow, deny or require approval, with a reason.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66751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7E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411480" cy="411480"/>
          </a:xfrm>
          <a:prstGeom prst="rect">
            <a:avLst/>
          </a:prstGeom>
          <a:solidFill>
            <a:srgbClr val="1C1B1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745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</a:rPr>
              <a:t>Tool policy  </a:t>
            </a:r>
            <a:pPr indent="0" marL="0">
              <a:buNone/>
            </a:pPr>
            <a:r>
              <a:rPr lang="en-US" sz="1300" dirty="0">
                <a:solidFill>
                  <a:srgbClr val="3A3935"/>
                </a:solidFill>
              </a:rPr>
              <a:t>Each tool is allow, approval or deny for each destination.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548640" y="2651760"/>
            <a:ext cx="66751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7E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788920"/>
            <a:ext cx="411480" cy="411480"/>
          </a:xfrm>
          <a:prstGeom prst="rect">
            <a:avLst/>
          </a:prstGeom>
          <a:solidFill>
            <a:srgbClr val="1C1B1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</a:rPr>
              <a:t>Allowlist  </a:t>
            </a:r>
            <a:pPr indent="0" marL="0">
              <a:buNone/>
            </a:pPr>
            <a:r>
              <a:rPr lang="en-US" sz="1300" dirty="0">
                <a:solidFill>
                  <a:srgbClr val="3A3935"/>
                </a:solidFill>
              </a:rPr>
              <a:t>Email recipients and URLs must be on an allowlisted domain.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3474720"/>
            <a:ext cx="66751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7E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611880"/>
            <a:ext cx="411480" cy="411480"/>
          </a:xfrm>
          <a:prstGeom prst="rect">
            <a:avLst/>
          </a:prstGeom>
          <a:solidFill>
            <a:srgbClr val="1C1B1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5204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</a:rPr>
              <a:t>Taint  </a:t>
            </a:r>
            <a:pPr indent="0" marL="0">
              <a:buNone/>
            </a:pPr>
            <a:r>
              <a:rPr lang="en-US" sz="1300" dirty="0">
                <a:solidFill>
                  <a:srgbClr val="3A3935"/>
                </a:solidFill>
              </a:rPr>
              <a:t>An argument of 8+ characters found only in tainted content, and not in the user's request, is denied.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548640" y="4297680"/>
            <a:ext cx="66751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7E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434840"/>
            <a:ext cx="411480" cy="411480"/>
          </a:xfrm>
          <a:prstGeom prst="rect">
            <a:avLst/>
          </a:prstGeom>
          <a:solidFill>
            <a:srgbClr val="1C1B1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434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</a:rPr>
              <a:t>Exfiltration  </a:t>
            </a:r>
            <a:pPr indent="0" marL="0">
              <a:buNone/>
            </a:pPr>
            <a:r>
              <a:rPr lang="en-US" sz="1300" dirty="0">
                <a:solidFill>
                  <a:srgbClr val="3A3935"/>
                </a:solidFill>
              </a:rPr>
              <a:t>URLs carrying canary-like secrets, PAN, Aadhaar-like or card numbers are denied.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548640" y="5120640"/>
            <a:ext cx="66751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7E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257800"/>
            <a:ext cx="411480" cy="411480"/>
          </a:xfrm>
          <a:prstGeom prst="rect">
            <a:avLst/>
          </a:prstGeom>
          <a:solidFill>
            <a:srgbClr val="1C1B1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6636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</a:rPr>
              <a:t>Thresholds  </a:t>
            </a:r>
            <a:pPr indent="0" marL="0">
              <a:buNone/>
            </a:pPr>
            <a:r>
              <a:rPr lang="en-US" sz="1300" dirty="0">
                <a:solidFill>
                  <a:srgbClr val="3A3935"/>
                </a:solidFill>
              </a:rPr>
              <a:t>transfer_funds above Rs 50,000 always needs a person.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7589520" y="1828800"/>
            <a:ext cx="4023360" cy="3977640"/>
          </a:xfrm>
          <a:prstGeom prst="roundRect">
            <a:avLst>
              <a:gd name="adj" fmla="val 2759"/>
            </a:avLst>
          </a:prstGeom>
          <a:solidFill>
            <a:srgbClr val="F3F1FF"/>
          </a:solidFill>
          <a:ln w="9525">
            <a:solidFill>
              <a:srgbClr val="DCD6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18120" y="2011680"/>
            <a:ext cx="3611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5740A1"/>
                </a:solidFill>
              </a:rPr>
              <a:t>People decide the uncertain cases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A3935"/>
                </a:solidFill>
              </a:rPr>
              <a:t>The review queue holds ESCALATE verdicts, tool calls held for approval, and proposed attack-memory entries.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A3935"/>
                </a:solidFill>
              </a:rPr>
              <a:t>In the demo, the guard denied a transfer_funds whose account number came only from a poisoned email, and held update_memory for approval.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Failures hold content for a person on high-risk paths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D58"/>
                </a:solidFill>
              </a:rPr>
              <a:t>Agents with tools fail closed. Read-only destinations fail open, with the result marked degraded.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Situation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Agent with tools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Read-only destination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Every LLM in a role is down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ESCALATE: held for a person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ALLOW, marked degraded and wrapped as data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File cannot be parsed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ESCALATE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ALLOW, marked degraded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File over the size limit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QUARANTINE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QUARANTINE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Still dirty after 2 cut passes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QUARANTINE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QUARANTINE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935"/>
                </a:solidFill>
              </a:rPr>
              <a:t>The firewall's own LLMs read content as marked data and must return strict JSON.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935"/>
                </a:solidFill>
              </a:rPr>
              <a:t>Decoy output is never executed. Fake tools only log the attempt, and canaries are random per run.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935"/>
                </a:solidFill>
              </a:rPr>
              <a:t>Every verdict carries a one-sentence reason and the detectors that fired, such as rule:R01, llm:0.85, detonator:tool_fired.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935"/>
                </a:solidFill>
              </a:rPr>
              <a:t>All demo data is synthetic. The audit log stores raw content, which is acceptable only for synthetic data. A hash-only mode is not built.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 attack type has a catcher and a test file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D58"/>
                </a:solidFill>
              </a:rPr>
              <a:t>Each test file has a benign twin, plus 6 hard negatives with attack-like wording.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237744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catcher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Backup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file (carrier)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T1 Instruction override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Sentinel classifier and rules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Check-in token missing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A1 PDF white text, A2 Word hidden run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T2 Role change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Sentinel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Decoy persona change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A3 chat, A4 Markdown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T3 Secret extraction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Decoy canary leak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Exfil-link rule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A5 email display:none, A6 image link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T4 Tool abuse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Decoy fires a fake tool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Guard taint check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A7 JSON ticket, A8 MCP tool list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T5 Credential theft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Canary OTP or password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OTP and password rules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A9 HTML comment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T6 Context poisoning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Decoy memory write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"Remember" rules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A10 web page, A11 calendar invite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T7 Multi-step jailbreak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Classifier on every session turn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Session rolling risk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A12 four-turn crescendo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T8 Encoded instructions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Recursive decoder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Encoding raises risk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A13 .cursorrules, A14 base64 email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T9 Indirect injection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Hidden-layer reveal, retrieved channel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Detonator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A15 cheque image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 measured on 10 October 2026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D58"/>
                </a:solidFill>
              </a:rPr>
              <a:t>Perfect on our frozen corpus, 80% on public datasets, and right at the 5% line on NotInject.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731520"/>
                <a:gridCol w="1280160"/>
                <a:gridCol w="17373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Run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Detection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False positives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Run id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Frozen corpus (14 attacks, 10 twins, 6 hard negatives)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Full pipeline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0%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ev_7d574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Held-out samples, written after the corpus froze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Full pipeline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10 of 10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0 of 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samples/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NotInject (benign prompts with trigger words)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Sentinel only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339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5.0% (17)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ev_e2f0a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deepset prompt-injections, test split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Sentinel only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116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48%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0%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ev_42204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Lakera Gandalf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Sentinel only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98%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ev_42204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jackhhao jailbreak classification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Sentinel only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88%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7.5% (3 of 40)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ev_42204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Microsoft LLMail-Inject, phase 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Sentinel only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94%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935"/>
                          </a:solidFill>
                        </a:rPr>
                        <a:t>ev_42204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3434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D58"/>
                </a:solidFill>
              </a:rPr>
              <a:t>Public samples come from backend/eval/build_sets.py with a fixed seed. Runs are saved in backend/eval/results/. Most deepset misses are ordinary requests labelled as attacks. The real misses are German injections. The NotInject runs predate the channel-aware classifier, and the re-run is pending.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Known limitations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D58"/>
                </a:solidFill>
              </a:rPr>
              <a:t>These are the known gaps in the current build.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935"/>
                </a:solidFill>
              </a:rPr>
              <a:t>The A12 crescendo is caught at its fourth turn by the per-turn classifier. The session agent's rising-risk trigger did not fire.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935"/>
                </a:solidFill>
              </a:rPr>
              <a:t>Context poisoning (T6) is the weakest single-message type. It relies on a memory write or the judge spotting drift.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935"/>
                </a:solidFill>
              </a:rPr>
              <a:t>Free-tier rate limits cost latency. With Gemma throttled, a scan walks its fallbacks and takes 10 to 30 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935"/>
                </a:solidFill>
              </a:rPr>
              <a:t>Approving an escalation records the decision but does not release the held content.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935"/>
                </a:solidFill>
              </a:rPr>
              <a:t>The tool-call guard uses rules only. There is no LLM check that an action follows from the user's request.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935"/>
                </a:solidFill>
              </a:rPr>
              <a:t>Not built: an attack-variant generator, editors for rules and attack memory, a hash-only audit mode, API key enforcement, and an OpenAI-compatible proxy.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935"/>
                </a:solidFill>
              </a:rPr>
              <a:t>Non-English detection is best effort. German injections explain several deepset misses.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 and deployment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D58"/>
                </a:solidFill>
              </a:rPr>
              <a:t>One container serves the API and the console. docker compose up starts it on port 8000.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holds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backend/app/pipeline.py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The LangGraph StateGraph: nodes, routes, the public scan() entry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backend/app/triage.py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Parsers, hidden-layer detection, recursive decoder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backend/app/sentinel.py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Rules, attack memory, the LLM classifier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backend/app/detonator.py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Canaries, decoy prompt, signals, behaviour judge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backend/app/neutralizer.py, guard.py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Span cutting and taint; tool-call guard and session risk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backend/app/llm.py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OpenRouter client: fallback, retries, breaker, cache, pacing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backend/app/main.py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FastAPI routes: /v1/scan, /v1/guard/tool-call, /v1/events (SSE), demo and evals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frontend/src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</a:rPr>
                        <a:t>React console: Arena, Inspector, Evaluations, Review queue, config pages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26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D58"/>
                </a:solidFill>
              </a:rPr>
              <a:t>Stack: Python 3.12, FastAPI, LangGraph, SQLite, React 19 with Vite and Tailwind, free OpenRouter models.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D5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pwire">
  <a:themeElements>
    <a:clrScheme name="Tripwire">
      <a:dk1>
        <a:srgbClr val="1C1B19"/>
      </a:dk1>
      <a:lt1>
        <a:srgbClr val="FFFFFF"/>
      </a:lt1>
      <a:dk2>
        <a:srgbClr val="3A3935"/>
      </a:dk2>
      <a:lt2>
        <a:srgbClr val="F6F5F3"/>
      </a:lt2>
      <a:accent1>
        <a:srgbClr val="DA4339"/>
      </a:accent1>
      <a:accent2>
        <a:srgbClr val="2C965D"/>
      </a:accent2>
      <a:accent3>
        <a:srgbClr val="D79628"/>
      </a:accent3>
      <a:accent4>
        <a:srgbClr val="7B67CC"/>
      </a:accent4>
      <a:accent5>
        <a:srgbClr val="5F5D58"/>
      </a:accent5>
      <a:accent6>
        <a:srgbClr val="E7E5E1"/>
      </a:accent6>
      <a:hlink>
        <a:srgbClr val="5740A1"/>
      </a:hlink>
      <a:folHlink>
        <a:srgbClr val="5740A1"/>
      </a:folHlink>
    </a:clrScheme>
    <a:fontScheme name="Tripwi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shivam-johri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Tripwire architecture</dc:title>
  <dc:subject>ET AI Hackathon 2026, Problem 2</dc:subject>
  <dc:creator>Shivam Johri</dc:creator>
  <cp:lastModifiedBy>Shivam Johri</cp:lastModifiedBy>
  <cp:revision>1</cp:revision>
  <dcterms:created xsi:type="dcterms:W3CDTF">2026-10-10T14:42:19Z</dcterms:created>
  <dcterms:modified xsi:type="dcterms:W3CDTF">2026-10-10T14:42:19Z</dcterms:modified>
</cp:coreProperties>
</file>